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sldIdLst>
    <p:sldId id="271" r:id="rId4"/>
    <p:sldId id="257" r:id="rId5"/>
    <p:sldId id="258" r:id="rId6"/>
    <p:sldId id="259" r:id="rId7"/>
    <p:sldId id="261" r:id="rId8"/>
    <p:sldId id="262" r:id="rId9"/>
    <p:sldId id="263" r:id="rId10"/>
    <p:sldId id="264" r:id="rId11"/>
    <p:sldId id="265" r:id="rId12"/>
    <p:sldId id="266" r:id="rId13"/>
    <p:sldId id="267" r:id="rId1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59" d="100"/>
          <a:sy n="59" d="100"/>
        </p:scale>
        <p:origin x="150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 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lang="en-US"/>
          </a:p>
        </p:txBody>
      </p:sp>
      <p:sp>
        <p:nvSpPr>
          <p:cNvPr id="17" name="Google Shape;17;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BCAD085-E8A6-8845-BD4E-CB4CCA059FC4}" type="datetimeFigureOut">
              <a:rPr lang="en-US" smtClean="0"/>
            </a:fld>
            <a:endParaRPr lang="en-US"/>
          </a:p>
        </p:txBody>
      </p:sp>
      <p:sp>
        <p:nvSpPr>
          <p:cNvPr id="18" name="Google Shape;18;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19" name="Google Shape;19;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C1FF6DA9-008F-8B48-92A6-B652298478BF}" type="slidenum">
              <a:rPr lang="en-US" smtClean="0"/>
            </a:fld>
            <a:endParaRPr lang="en-US"/>
          </a:p>
        </p:txBody>
      </p:sp>
      <p:pic>
        <p:nvPicPr>
          <p:cNvPr id="20" name="Google Shape;20;p7"/>
          <p:cNvPicPr preferRelativeResize="0"/>
          <p:nvPr/>
        </p:nvPicPr>
        <p:blipFill rotWithShape="1">
          <a:blip r:embed="rId2"/>
          <a:srcRect/>
          <a:stretch>
            <a:fillRect/>
          </a:stretch>
        </p:blipFill>
        <p:spPr>
          <a:xfrm>
            <a:off x="6610674" y="6184984"/>
            <a:ext cx="2419048" cy="673016"/>
          </a:xfrm>
          <a:prstGeom prst="rect">
            <a:avLst/>
          </a:prstGeom>
          <a:noFill/>
          <a:ln>
            <a:noFill/>
          </a:ln>
        </p:spPr>
      </p:pic>
    </p:spTree>
  </p:cSld>
  <p:clrMapOvr>
    <a:masterClrMapping/>
  </p:clrMapOvr>
  <p:transition spd="slow">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BCAD085-E8A6-8845-BD4E-CB4CCA059FC4}" type="datetimeFigureOut">
              <a:rPr lang="en-US" smtClean="0"/>
            </a:fld>
            <a:endParaRPr lang="en-US"/>
          </a:p>
        </p:txBody>
      </p:sp>
      <p:sp>
        <p:nvSpPr>
          <p:cNvPr id="23" name="Google Shape;2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24" name="Google Shape;2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C1FF6DA9-008F-8B48-92A6-B652298478BF}" type="slidenum">
              <a:rPr lang="en-US" smtClean="0"/>
            </a:fld>
            <a:endParaRPr lang="en-US"/>
          </a:p>
        </p:txBody>
      </p:sp>
      <p:pic>
        <p:nvPicPr>
          <p:cNvPr id="25" name="Google Shape;25;p9"/>
          <p:cNvPicPr preferRelativeResize="0"/>
          <p:nvPr/>
        </p:nvPicPr>
        <p:blipFill rotWithShape="1">
          <a:blip r:embed="rId2"/>
          <a:srcRect/>
          <a:stretch>
            <a:fillRect/>
          </a:stretch>
        </p:blipFill>
        <p:spPr>
          <a:xfrm>
            <a:off x="6610674" y="6184984"/>
            <a:ext cx="2419048" cy="673016"/>
          </a:xfrm>
          <a:prstGeom prst="rect">
            <a:avLst/>
          </a:prstGeom>
          <a:noFill/>
          <a:ln>
            <a:noFill/>
          </a:ln>
        </p:spPr>
      </p:pic>
    </p:spTree>
  </p:cSld>
  <p:clrMapOvr>
    <a:masterClrMapping/>
  </p:clrMapOvr>
  <p:transition spd="slow">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Title and Conten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lang="en-US"/>
          </a:p>
        </p:txBody>
      </p:sp>
      <p:sp>
        <p:nvSpPr>
          <p:cNvPr id="28" name="Google Shape;28;p1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endParaRPr lang="en-US"/>
          </a:p>
        </p:txBody>
      </p:sp>
      <p:sp>
        <p:nvSpPr>
          <p:cNvPr id="29" name="Google Shape;2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BCAD085-E8A6-8845-BD4E-CB4CCA059FC4}" type="datetimeFigureOut">
              <a:rPr lang="en-US" smtClean="0"/>
            </a:fld>
            <a:endParaRPr lang="en-US"/>
          </a:p>
        </p:txBody>
      </p:sp>
      <p:sp>
        <p:nvSpPr>
          <p:cNvPr id="30" name="Google Shape;3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1" name="Google Shape;3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C1FF6DA9-008F-8B48-92A6-B652298478BF}" type="slidenum">
              <a:rPr lang="en-US" smtClean="0"/>
            </a:fld>
            <a:endParaRPr lang="en-US"/>
          </a:p>
        </p:txBody>
      </p:sp>
      <p:pic>
        <p:nvPicPr>
          <p:cNvPr id="32" name="Google Shape;32;p10"/>
          <p:cNvPicPr preferRelativeResize="0"/>
          <p:nvPr/>
        </p:nvPicPr>
        <p:blipFill rotWithShape="1">
          <a:blip r:embed="rId2"/>
          <a:srcRect/>
          <a:stretch>
            <a:fillRect/>
          </a:stretch>
        </p:blipFill>
        <p:spPr>
          <a:xfrm>
            <a:off x="6610674" y="6184984"/>
            <a:ext cx="2419048" cy="673016"/>
          </a:xfrm>
          <a:prstGeom prst="rect">
            <a:avLst/>
          </a:prstGeom>
          <a:noFill/>
          <a:ln>
            <a:noFill/>
          </a:ln>
        </p:spPr>
      </p:pic>
    </p:spTree>
  </p:cSld>
  <p:clrMapOvr>
    <a:masterClrMapping/>
  </p:clrMapOvr>
  <p:transition spd="slow">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Slid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lang="en-US"/>
          </a:p>
        </p:txBody>
      </p:sp>
      <p:sp>
        <p:nvSpPr>
          <p:cNvPr id="35" name="Google Shape;35;p8"/>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lang="en-US"/>
          </a:p>
        </p:txBody>
      </p:sp>
      <p:sp>
        <p:nvSpPr>
          <p:cNvPr id="36" name="Google Shape;36;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BCAD085-E8A6-8845-BD4E-CB4CCA059FC4}" type="datetimeFigureOut">
              <a:rPr lang="en-US" smtClean="0"/>
            </a:fld>
            <a:endParaRPr lang="en-US"/>
          </a:p>
        </p:txBody>
      </p:sp>
      <p:sp>
        <p:nvSpPr>
          <p:cNvPr id="37" name="Google Shape;37;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8" name="Google Shape;38;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C1FF6DA9-008F-8B48-92A6-B652298478BF}" type="slidenum">
              <a:rPr lang="en-US" smtClean="0"/>
            </a:fld>
            <a:endParaRPr lang="en-US"/>
          </a:p>
        </p:txBody>
      </p:sp>
      <p:pic>
        <p:nvPicPr>
          <p:cNvPr id="39" name="Google Shape;39;p8"/>
          <p:cNvPicPr preferRelativeResize="0"/>
          <p:nvPr/>
        </p:nvPicPr>
        <p:blipFill rotWithShape="1">
          <a:blip r:embed="rId2"/>
          <a:srcRect/>
          <a:stretch>
            <a:fillRect/>
          </a:stretch>
        </p:blipFill>
        <p:spPr>
          <a:xfrm>
            <a:off x="6610674" y="6184984"/>
            <a:ext cx="2419048" cy="673016"/>
          </a:xfrm>
          <a:prstGeom prst="rect">
            <a:avLst/>
          </a:prstGeom>
          <a:noFill/>
          <a:ln>
            <a:noFill/>
          </a:ln>
        </p:spPr>
      </p:pic>
    </p:spTree>
  </p:cSld>
  <p:clrMapOvr>
    <a:masterClrMapping/>
  </p:clrMapOvr>
  <p:transition spd="slow">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 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lang="en-US"/>
          </a:p>
        </p:txBody>
      </p:sp>
      <p:sp>
        <p:nvSpPr>
          <p:cNvPr id="42" name="Google Shape;42;p11"/>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pPr lvl="0"/>
            <a:r>
              <a:rPr lang="en-US"/>
              <a:t>Click to edit Master text styles</a:t>
            </a:r>
            <a:endParaRPr lang="en-US"/>
          </a:p>
        </p:txBody>
      </p:sp>
      <p:sp>
        <p:nvSpPr>
          <p:cNvPr id="43" name="Google Shape;43;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BCAD085-E8A6-8845-BD4E-CB4CCA059FC4}" type="datetimeFigureOut">
              <a:rPr lang="en-US" smtClean="0"/>
            </a:fld>
            <a:endParaRPr lang="en-US"/>
          </a:p>
        </p:txBody>
      </p:sp>
      <p:sp>
        <p:nvSpPr>
          <p:cNvPr id="44" name="Google Shape;44;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45" name="Google Shape;45;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C1FF6DA9-008F-8B48-92A6-B652298478BF}" type="slidenum">
              <a:rPr lang="en-US" smtClean="0"/>
            </a:fld>
            <a:endParaRPr lang="en-US"/>
          </a:p>
        </p:txBody>
      </p:sp>
      <p:pic>
        <p:nvPicPr>
          <p:cNvPr id="46" name="Google Shape;46;p11"/>
          <p:cNvPicPr preferRelativeResize="0"/>
          <p:nvPr/>
        </p:nvPicPr>
        <p:blipFill rotWithShape="1">
          <a:blip r:embed="rId2"/>
          <a:srcRect/>
          <a:stretch>
            <a:fillRect/>
          </a:stretch>
        </p:blipFill>
        <p:spPr>
          <a:xfrm>
            <a:off x="6610674" y="6184984"/>
            <a:ext cx="2419048" cy="673016"/>
          </a:xfrm>
          <a:prstGeom prst="rect">
            <a:avLst/>
          </a:prstGeom>
          <a:noFill/>
          <a:ln>
            <a:noFill/>
          </a:ln>
        </p:spPr>
      </p:pic>
    </p:spTree>
  </p:cSld>
  <p:clrMapOvr>
    <a:masterClrMapping/>
  </p:clrMapOvr>
  <p:transition spd="slow">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 Content">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lang="en-US"/>
          </a:p>
        </p:txBody>
      </p:sp>
      <p:sp>
        <p:nvSpPr>
          <p:cNvPr id="49" name="Google Shape;49;p12"/>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endParaRPr lang="en-US"/>
          </a:p>
        </p:txBody>
      </p:sp>
      <p:sp>
        <p:nvSpPr>
          <p:cNvPr id="50" name="Google Shape;50;p12"/>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endParaRPr lang="en-US"/>
          </a:p>
        </p:txBody>
      </p:sp>
      <p:sp>
        <p:nvSpPr>
          <p:cNvPr id="51" name="Google Shape;5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BCAD085-E8A6-8845-BD4E-CB4CCA059FC4}" type="datetimeFigureOut">
              <a:rPr lang="en-US" smtClean="0"/>
            </a:fld>
            <a:endParaRPr lang="en-US"/>
          </a:p>
        </p:txBody>
      </p:sp>
      <p:sp>
        <p:nvSpPr>
          <p:cNvPr id="52" name="Google Shape;5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3" name="Google Shape;5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C1FF6DA9-008F-8B48-92A6-B652298478BF}" type="slidenum">
              <a:rPr lang="en-US" smtClean="0"/>
            </a:fld>
            <a:endParaRPr lang="en-US"/>
          </a:p>
        </p:txBody>
      </p:sp>
      <p:pic>
        <p:nvPicPr>
          <p:cNvPr id="54" name="Google Shape;54;p12"/>
          <p:cNvPicPr preferRelativeResize="0"/>
          <p:nvPr/>
        </p:nvPicPr>
        <p:blipFill rotWithShape="1">
          <a:blip r:embed="rId2"/>
          <a:srcRect/>
          <a:stretch>
            <a:fillRect/>
          </a:stretch>
        </p:blipFill>
        <p:spPr>
          <a:xfrm>
            <a:off x="6610674" y="6184984"/>
            <a:ext cx="2419048" cy="673016"/>
          </a:xfrm>
          <a:prstGeom prst="rect">
            <a:avLst/>
          </a:prstGeom>
          <a:noFill/>
          <a:ln>
            <a:noFill/>
          </a:ln>
        </p:spPr>
      </p:pic>
    </p:spTree>
  </p:cSld>
  <p:clrMapOvr>
    <a:masterClrMapping/>
  </p:clrMapOvr>
  <p:transition spd="slow">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Comparison">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lang="en-US"/>
          </a:p>
        </p:txBody>
      </p:sp>
      <p:sp>
        <p:nvSpPr>
          <p:cNvPr id="57" name="Google Shape;57;p1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pPr lvl="0"/>
            <a:r>
              <a:rPr lang="en-US"/>
              <a:t>Click to edit Master text styles</a:t>
            </a:r>
            <a:endParaRPr lang="en-US"/>
          </a:p>
        </p:txBody>
      </p:sp>
      <p:sp>
        <p:nvSpPr>
          <p:cNvPr id="58" name="Google Shape;58;p1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endParaRPr lang="en-US"/>
          </a:p>
        </p:txBody>
      </p:sp>
      <p:sp>
        <p:nvSpPr>
          <p:cNvPr id="59" name="Google Shape;59;p1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pPr lvl="0"/>
            <a:r>
              <a:rPr lang="en-US"/>
              <a:t>Click to edit Master text styles</a:t>
            </a:r>
            <a:endParaRPr lang="en-US"/>
          </a:p>
        </p:txBody>
      </p:sp>
      <p:sp>
        <p:nvSpPr>
          <p:cNvPr id="60" name="Google Shape;60;p1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endParaRPr lang="en-US"/>
          </a:p>
        </p:txBody>
      </p:sp>
      <p:sp>
        <p:nvSpPr>
          <p:cNvPr id="61" name="Google Shape;61;p1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BCAD085-E8A6-8845-BD4E-CB4CCA059FC4}" type="datetimeFigureOut">
              <a:rPr lang="en-US" smtClean="0"/>
            </a:fld>
            <a:endParaRPr lang="en-US"/>
          </a:p>
        </p:txBody>
      </p:sp>
      <p:sp>
        <p:nvSpPr>
          <p:cNvPr id="62" name="Google Shape;62;p1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63" name="Google Shape;63;p1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C1FF6DA9-008F-8B48-92A6-B652298478BF}" type="slidenum">
              <a:rPr lang="en-US" smtClean="0"/>
            </a:fld>
            <a:endParaRPr lang="en-US"/>
          </a:p>
        </p:txBody>
      </p:sp>
      <p:pic>
        <p:nvPicPr>
          <p:cNvPr id="64" name="Google Shape;64;p13"/>
          <p:cNvPicPr preferRelativeResize="0"/>
          <p:nvPr/>
        </p:nvPicPr>
        <p:blipFill rotWithShape="1">
          <a:blip r:embed="rId2"/>
          <a:srcRect/>
          <a:stretch>
            <a:fillRect/>
          </a:stretch>
        </p:blipFill>
        <p:spPr>
          <a:xfrm>
            <a:off x="6610674" y="6184984"/>
            <a:ext cx="2419048" cy="673016"/>
          </a:xfrm>
          <a:prstGeom prst="rect">
            <a:avLst/>
          </a:prstGeom>
          <a:noFill/>
          <a:ln>
            <a:noFill/>
          </a:ln>
        </p:spPr>
      </p:pic>
    </p:spTree>
  </p:cSld>
  <p:clrMapOvr>
    <a:masterClrMapping/>
  </p:clrMapOvr>
  <p:transition spd="slow">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Content with Caption">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lang="en-US"/>
          </a:p>
        </p:txBody>
      </p:sp>
      <p:sp>
        <p:nvSpPr>
          <p:cNvPr id="67" name="Google Shape;67;p14"/>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pPr lvl="0"/>
            <a:r>
              <a:rPr lang="en-US"/>
              <a:t>Click to edit Master text styles</a:t>
            </a:r>
            <a:endParaRPr lang="en-US"/>
          </a:p>
        </p:txBody>
      </p:sp>
      <p:sp>
        <p:nvSpPr>
          <p:cNvPr id="68" name="Google Shape;68;p14"/>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pPr lvl="0"/>
            <a:r>
              <a:rPr lang="en-US"/>
              <a:t>Click to edit Master text styles</a:t>
            </a:r>
            <a:endParaRPr lang="en-US"/>
          </a:p>
        </p:txBody>
      </p:sp>
      <p:sp>
        <p:nvSpPr>
          <p:cNvPr id="69" name="Google Shape;69;p1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BCAD085-E8A6-8845-BD4E-CB4CCA059FC4}" type="datetimeFigureOut">
              <a:rPr lang="en-US" smtClean="0"/>
            </a:fld>
            <a:endParaRPr lang="en-US"/>
          </a:p>
        </p:txBody>
      </p:sp>
      <p:sp>
        <p:nvSpPr>
          <p:cNvPr id="70" name="Google Shape;70;p1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71" name="Google Shape;71;p1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C1FF6DA9-008F-8B48-92A6-B652298478BF}" type="slidenum">
              <a:rPr lang="en-US" smtClean="0"/>
            </a:fld>
            <a:endParaRPr lang="en-US"/>
          </a:p>
        </p:txBody>
      </p:sp>
      <p:pic>
        <p:nvPicPr>
          <p:cNvPr id="72" name="Google Shape;72;p14"/>
          <p:cNvPicPr preferRelativeResize="0"/>
          <p:nvPr/>
        </p:nvPicPr>
        <p:blipFill rotWithShape="1">
          <a:blip r:embed="rId2"/>
          <a:srcRect/>
          <a:stretch>
            <a:fillRect/>
          </a:stretch>
        </p:blipFill>
        <p:spPr>
          <a:xfrm>
            <a:off x="6610674" y="6184984"/>
            <a:ext cx="2419048" cy="673016"/>
          </a:xfrm>
          <a:prstGeom prst="rect">
            <a:avLst/>
          </a:prstGeom>
          <a:noFill/>
          <a:ln>
            <a:noFill/>
          </a:ln>
        </p:spPr>
      </p:pic>
    </p:spTree>
  </p:cSld>
  <p:clrMapOvr>
    <a:masterClrMapping/>
  </p:clrMapOvr>
  <p:transition spd="slow">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 with Caption">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lang="en-US"/>
          </a:p>
        </p:txBody>
      </p:sp>
      <p:sp>
        <p:nvSpPr>
          <p:cNvPr id="75" name="Google Shape;75;p15"/>
          <p:cNvSpPr>
            <a:spLocks noGrp="1"/>
          </p:cNvSpPr>
          <p:nvPr>
            <p:ph type="pic" idx="2"/>
          </p:nvPr>
        </p:nvSpPr>
        <p:spPr>
          <a:xfrm>
            <a:off x="3887391" y="987426"/>
            <a:ext cx="4629150" cy="4873625"/>
          </a:xfrm>
          <a:prstGeom prst="rect">
            <a:avLst/>
          </a:prstGeom>
          <a:noFill/>
          <a:ln>
            <a:noFill/>
          </a:ln>
        </p:spPr>
      </p:sp>
      <p:sp>
        <p:nvSpPr>
          <p:cNvPr id="76" name="Google Shape;76;p15"/>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pPr lvl="0"/>
            <a:r>
              <a:rPr lang="en-US"/>
              <a:t>Click to edit Master text styles</a:t>
            </a:r>
            <a:endParaRPr lang="en-US"/>
          </a:p>
        </p:txBody>
      </p:sp>
      <p:sp>
        <p:nvSpPr>
          <p:cNvPr id="77" name="Google Shape;77;p1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BCAD085-E8A6-8845-BD4E-CB4CCA059FC4}" type="datetimeFigureOut">
              <a:rPr lang="en-US" smtClean="0"/>
            </a:fld>
            <a:endParaRPr lang="en-US"/>
          </a:p>
        </p:txBody>
      </p:sp>
      <p:sp>
        <p:nvSpPr>
          <p:cNvPr id="78" name="Google Shape;78;p1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79" name="Google Shape;79;p1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C1FF6DA9-008F-8B48-92A6-B652298478BF}" type="slidenum">
              <a:rPr lang="en-US" smtClean="0"/>
            </a:fld>
            <a:endParaRPr lang="en-US"/>
          </a:p>
        </p:txBody>
      </p:sp>
      <p:pic>
        <p:nvPicPr>
          <p:cNvPr id="80" name="Google Shape;80;p15"/>
          <p:cNvPicPr preferRelativeResize="0"/>
          <p:nvPr/>
        </p:nvPicPr>
        <p:blipFill rotWithShape="1">
          <a:blip r:embed="rId2"/>
          <a:srcRect/>
          <a:stretch>
            <a:fillRect/>
          </a:stretch>
        </p:blipFill>
        <p:spPr>
          <a:xfrm>
            <a:off x="6610674" y="6184984"/>
            <a:ext cx="2419048" cy="673016"/>
          </a:xfrm>
          <a:prstGeom prst="rect">
            <a:avLst/>
          </a:prstGeom>
          <a:noFill/>
          <a:ln>
            <a:noFill/>
          </a:ln>
        </p:spPr>
      </p:pic>
    </p:spTree>
  </p:cSld>
  <p:clrMapOvr>
    <a:masterClrMapping/>
  </p:clrMapOvr>
  <p:transition spd="slow">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Title and Vertical 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lang="en-US"/>
          </a:p>
        </p:txBody>
      </p:sp>
      <p:sp>
        <p:nvSpPr>
          <p:cNvPr id="83" name="Google Shape;83;p16"/>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endParaRPr lang="en-US"/>
          </a:p>
        </p:txBody>
      </p:sp>
      <p:sp>
        <p:nvSpPr>
          <p:cNvPr id="84" name="Google Shape;84;p1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BCAD085-E8A6-8845-BD4E-CB4CCA059FC4}" type="datetimeFigureOut">
              <a:rPr lang="en-US" smtClean="0"/>
            </a:fld>
            <a:endParaRPr lang="en-US"/>
          </a:p>
        </p:txBody>
      </p:sp>
      <p:sp>
        <p:nvSpPr>
          <p:cNvPr id="85" name="Google Shape;85;p1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86" name="Google Shape;86;p1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C1FF6DA9-008F-8B48-92A6-B652298478BF}" type="slidenum">
              <a:rPr lang="en-US" smtClean="0"/>
            </a:fld>
            <a:endParaRPr lang="en-US"/>
          </a:p>
        </p:txBody>
      </p:sp>
      <p:pic>
        <p:nvPicPr>
          <p:cNvPr id="87" name="Google Shape;87;p16"/>
          <p:cNvPicPr preferRelativeResize="0"/>
          <p:nvPr/>
        </p:nvPicPr>
        <p:blipFill rotWithShape="1">
          <a:blip r:embed="rId2"/>
          <a:srcRect/>
          <a:stretch>
            <a:fillRect/>
          </a:stretch>
        </p:blipFill>
        <p:spPr>
          <a:xfrm>
            <a:off x="6610674" y="6184984"/>
            <a:ext cx="2419048" cy="673016"/>
          </a:xfrm>
          <a:prstGeom prst="rect">
            <a:avLst/>
          </a:prstGeom>
          <a:noFill/>
          <a:ln>
            <a:noFill/>
          </a:ln>
        </p:spPr>
      </p:pic>
    </p:spTree>
  </p:cSld>
  <p:clrMapOvr>
    <a:masterClrMapping/>
  </p:clrMapOvr>
  <p:transition spd="slow">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 Title and 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lang="en-US"/>
          </a:p>
        </p:txBody>
      </p:sp>
      <p:sp>
        <p:nvSpPr>
          <p:cNvPr id="90" name="Google Shape;90;p17"/>
          <p:cNvSpPr txBox="1">
            <a:spLocks noGrp="1"/>
          </p:cNvSpPr>
          <p:nvPr>
            <p:ph type="body" idx="1"/>
          </p:nvPr>
        </p:nvSpPr>
        <p:spPr>
          <a:xfrm rot="5400000">
            <a:off x="623094" y="370682"/>
            <a:ext cx="5811838"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endParaRPr lang="en-US"/>
          </a:p>
        </p:txBody>
      </p:sp>
      <p:sp>
        <p:nvSpPr>
          <p:cNvPr id="91" name="Google Shape;91;p1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BCAD085-E8A6-8845-BD4E-CB4CCA059FC4}" type="datetimeFigureOut">
              <a:rPr lang="en-US" smtClean="0"/>
            </a:fld>
            <a:endParaRPr lang="en-US"/>
          </a:p>
        </p:txBody>
      </p:sp>
      <p:sp>
        <p:nvSpPr>
          <p:cNvPr id="92" name="Google Shape;92;p1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93" name="Google Shape;93;p1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C1FF6DA9-008F-8B48-92A6-B652298478BF}" type="slidenum">
              <a:rPr lang="en-US" smtClean="0"/>
            </a:fld>
            <a:endParaRPr lang="en-US"/>
          </a:p>
        </p:txBody>
      </p:sp>
    </p:spTree>
  </p:cSld>
  <p:clrMapOvr>
    <a:masterClrMapping/>
  </p:clrMapOvr>
  <p:transition spd="slow">
    <p:fade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300" b="1" i="0">
                <a:solidFill>
                  <a:srgbClr val="FF0000"/>
                </a:solidFill>
                <a:latin typeface="Calibri" panose="020F0502020204030204"/>
                <a:cs typeface="Calibri" panose="020F0502020204030204"/>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1" i="0">
                <a:solidFill>
                  <a:schemeClr val="tx1"/>
                </a:solidFill>
                <a:latin typeface="Calibri" panose="020F0502020204030204"/>
                <a:cs typeface="Calibri" panose="020F050202020403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rgbClr val="FF0000"/>
                </a:solidFill>
                <a:latin typeface="Calibri" panose="020F0502020204030204"/>
                <a:cs typeface="Calibri" panose="020F0502020204030204"/>
              </a:defRPr>
            </a:lvl1pPr>
          </a:lstStyle>
          <a:p/>
        </p:txBody>
      </p:sp>
      <p:sp>
        <p:nvSpPr>
          <p:cNvPr id="3" name="Holder 3"/>
          <p:cNvSpPr>
            <a:spLocks noGrp="1"/>
          </p:cNvSpPr>
          <p:nvPr>
            <p:ph type="body" idx="1"/>
          </p:nvPr>
        </p:nvSpPr>
        <p:spPr/>
        <p:txBody>
          <a:bodyPr lIns="0" tIns="0" rIns="0" bIns="0"/>
          <a:lstStyle>
            <a:lvl1pPr>
              <a:defRPr sz="1800" b="1" i="0">
                <a:solidFill>
                  <a:schemeClr val="tx1"/>
                </a:solidFill>
                <a:latin typeface="Calibri" panose="020F0502020204030204"/>
                <a:cs typeface="Calibri" panose="020F050202020403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rgbClr val="FF0000"/>
                </a:solidFill>
                <a:latin typeface="Calibri" panose="020F0502020204030204"/>
                <a:cs typeface="Calibri" panose="020F0502020204030204"/>
              </a:defRPr>
            </a:lvl1pPr>
          </a:lstStyle>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10674" y="6184984"/>
            <a:ext cx="2419047" cy="622222"/>
          </a:xfrm>
          <a:prstGeom prst="rect">
            <a:avLst/>
          </a:prstGeom>
        </p:spPr>
      </p:pic>
      <p:pic>
        <p:nvPicPr>
          <p:cNvPr id="17" name="bg object 17"/>
          <p:cNvPicPr/>
          <p:nvPr/>
        </p:nvPicPr>
        <p:blipFill>
          <a:blip r:embed="rId3" cstate="print"/>
          <a:stretch>
            <a:fillRect/>
          </a:stretch>
        </p:blipFill>
        <p:spPr>
          <a:xfrm>
            <a:off x="4849887" y="1850749"/>
            <a:ext cx="3349232" cy="2834316"/>
          </a:xfrm>
          <a:prstGeom prst="rect">
            <a:avLst/>
          </a:prstGeom>
        </p:spPr>
      </p:pic>
      <p:sp>
        <p:nvSpPr>
          <p:cNvPr id="2" name="Holder 2"/>
          <p:cNvSpPr>
            <a:spLocks noGrp="1"/>
          </p:cNvSpPr>
          <p:nvPr>
            <p:ph type="title"/>
          </p:nvPr>
        </p:nvSpPr>
        <p:spPr/>
        <p:txBody>
          <a:bodyPr lIns="0" tIns="0" rIns="0" bIns="0"/>
          <a:lstStyle>
            <a:lvl1pPr>
              <a:defRPr sz="3300" b="1" i="0">
                <a:solidFill>
                  <a:srgbClr val="FF0000"/>
                </a:solidFill>
                <a:latin typeface="Calibri" panose="020F0502020204030204"/>
                <a:cs typeface="Calibri" panose="020F050202020403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10674" y="6184984"/>
            <a:ext cx="2419047" cy="622222"/>
          </a:xfrm>
          <a:prstGeom prst="rect">
            <a:avLst/>
          </a:prstGeom>
        </p:spPr>
      </p:pic>
      <p:pic>
        <p:nvPicPr>
          <p:cNvPr id="17" name="bg object 17"/>
          <p:cNvPicPr/>
          <p:nvPr/>
        </p:nvPicPr>
        <p:blipFill>
          <a:blip r:embed="rId3" cstate="print"/>
          <a:stretch>
            <a:fillRect/>
          </a:stretch>
        </p:blipFill>
        <p:spPr>
          <a:xfrm>
            <a:off x="444" y="0"/>
            <a:ext cx="9143111" cy="6694097"/>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image" Target="../media/image2.png"/><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fld id="{5BCAD085-E8A6-8845-BD4E-CB4CCA059FC4}" type="datetimeFigureOut">
              <a:rPr lang="en-US" smtClean="0"/>
            </a:fld>
            <a:endParaRPr lang="en-US"/>
          </a:p>
        </p:txBody>
      </p:sp>
      <p:sp>
        <p:nvSpPr>
          <p:cNvPr id="13" name="Google Shape;1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35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lang="en-US"/>
          </a:p>
        </p:txBody>
      </p:sp>
      <p:sp>
        <p:nvSpPr>
          <p:cNvPr id="14" name="Google Shape;1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fld id="{C1FF6DA9-008F-8B48-92A6-B652298478BF}" type="slidenum">
              <a:rPr lang="en-US" smtClean="0"/>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fade thruBlk="1"/>
  </p:transition>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05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6610674" y="6184984"/>
            <a:ext cx="2419047" cy="622222"/>
          </a:xfrm>
          <a:prstGeom prst="rect">
            <a:avLst/>
          </a:prstGeom>
        </p:spPr>
      </p:pic>
      <p:sp>
        <p:nvSpPr>
          <p:cNvPr id="2" name="Holder 2"/>
          <p:cNvSpPr>
            <a:spLocks noGrp="1"/>
          </p:cNvSpPr>
          <p:nvPr>
            <p:ph type="title"/>
          </p:nvPr>
        </p:nvSpPr>
        <p:spPr>
          <a:xfrm>
            <a:off x="211123" y="290587"/>
            <a:ext cx="6473190" cy="695960"/>
          </a:xfrm>
          <a:prstGeom prst="rect">
            <a:avLst/>
          </a:prstGeom>
        </p:spPr>
        <p:txBody>
          <a:bodyPr wrap="square" lIns="0" tIns="0" rIns="0" bIns="0">
            <a:spAutoFit/>
          </a:bodyPr>
          <a:lstStyle>
            <a:lvl1pPr>
              <a:defRPr sz="3300" b="1" i="0">
                <a:solidFill>
                  <a:srgbClr val="FF0000"/>
                </a:solidFill>
                <a:latin typeface="Calibri" panose="020F0502020204030204"/>
                <a:cs typeface="Calibri" panose="020F0502020204030204"/>
              </a:defRPr>
            </a:lvl1pPr>
          </a:lstStyle>
          <a:p/>
        </p:txBody>
      </p:sp>
      <p:sp>
        <p:nvSpPr>
          <p:cNvPr id="3" name="Holder 3"/>
          <p:cNvSpPr>
            <a:spLocks noGrp="1"/>
          </p:cNvSpPr>
          <p:nvPr>
            <p:ph type="body" idx="1"/>
          </p:nvPr>
        </p:nvSpPr>
        <p:spPr>
          <a:xfrm>
            <a:off x="621746" y="1386657"/>
            <a:ext cx="6745605" cy="3675379"/>
          </a:xfrm>
          <a:prstGeom prst="rect">
            <a:avLst/>
          </a:prstGeom>
        </p:spPr>
        <p:txBody>
          <a:bodyPr wrap="square" lIns="0" tIns="0" rIns="0" bIns="0">
            <a:spAutoFit/>
          </a:bodyPr>
          <a:lstStyle>
            <a:lvl1pPr>
              <a:defRPr sz="1800" b="1" i="0">
                <a:solidFill>
                  <a:schemeClr val="tx1"/>
                </a:solidFill>
                <a:latin typeface="Calibri" panose="020F0502020204030204"/>
                <a:cs typeface="Calibri" panose="020F0502020204030204"/>
              </a:defRPr>
            </a:lvl1pPr>
          </a:lstStyle>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57450" y="3863672"/>
            <a:ext cx="4800600" cy="501650"/>
          </a:xfrm>
          <a:prstGeom prst="rect">
            <a:avLst/>
          </a:prstGeom>
        </p:spPr>
        <p:txBody>
          <a:bodyPr vert="horz" wrap="square" lIns="0" tIns="9525" rIns="0" bIns="0" rtlCol="0">
            <a:spAutoFit/>
          </a:bodyPr>
          <a:lstStyle/>
          <a:p>
            <a:pPr marL="12700" algn="ctr">
              <a:lnSpc>
                <a:spcPct val="100000"/>
              </a:lnSpc>
              <a:spcBef>
                <a:spcPts val="100"/>
              </a:spcBef>
            </a:pPr>
            <a:r>
              <a:rPr lang="en-US" altLang="en-US" sz="3200" b="1" dirty="0"/>
              <a:t>Financial Data Analysis</a:t>
            </a:r>
            <a:r>
              <a:rPr lang="en-IN" sz="3200" b="1" dirty="0"/>
              <a:t> </a:t>
            </a:r>
            <a:endParaRPr sz="3200" b="1" dirty="0">
              <a:latin typeface="Calibri" panose="020F0502020204030204"/>
              <a:cs typeface="Calibri" panose="020F0502020204030204"/>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type="body" idx="1"/>
          </p:nvPr>
        </p:nvSpPr>
        <p:spPr/>
        <p:txBody>
          <a:bodyPr>
            <a:normAutofit fontScale="90000"/>
          </a:bodyPr>
          <a:lstStyle/>
          <a:p>
            <a:pPr algn="just">
              <a:buFont typeface="Wingdings" panose="05000000000000000000" charset="0"/>
              <a:buChar char="Ø"/>
            </a:pPr>
            <a:r>
              <a:rPr lang="en-US" altLang="en-US"/>
              <a:t>Financial Data Analysis plays a vital role in understanding an organization’s financial performance and guiding strategic decisions. This project uses Power BI to transform raw financial data into interactive dashboards and visual reports. Through analysis of key metrics like revenue, expenses, and profit margins, it helps identify trends, monitor financial growth, and improve decision-making. Power BI’s visualization tools make it easier to track real-time performance and uncover hidden insights. The main aim is to provide a clear, data-driven view of the company’s financial health, enabling stakeholders to make informed and timely business decisions.</a:t>
            </a:r>
            <a:endParaRPr lang="en-US" altLang="en-US"/>
          </a:p>
        </p:txBody>
      </p:sp>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type="body" idx="1"/>
          </p:nvPr>
        </p:nvSpPr>
        <p:spPr/>
        <p:txBody>
          <a:bodyPr>
            <a:normAutofit fontScale="90000"/>
          </a:bodyPr>
          <a:lstStyle/>
          <a:p>
            <a:pPr algn="just" fontAlgn="auto" latinLnBrk="0">
              <a:lnSpc>
                <a:spcPct val="90000"/>
              </a:lnSpc>
              <a:spcBef>
                <a:spcPts val="700"/>
              </a:spcBef>
              <a:buFont typeface="Wingdings" panose="05000000000000000000" charset="0"/>
              <a:buChar char="Ø"/>
            </a:pPr>
            <a:r>
              <a:rPr lang="en-US" altLang="en-US"/>
              <a:t>To analyze and visualize financial data using Power BI for better understanding of business performance.</a:t>
            </a:r>
            <a:endParaRPr lang="en-US" altLang="en-US"/>
          </a:p>
          <a:p>
            <a:pPr algn="just" fontAlgn="auto" latinLnBrk="0">
              <a:lnSpc>
                <a:spcPct val="90000"/>
              </a:lnSpc>
              <a:spcBef>
                <a:spcPts val="700"/>
              </a:spcBef>
              <a:buFont typeface="Wingdings" panose="05000000000000000000" charset="0"/>
              <a:buChar char="Ø"/>
            </a:pPr>
            <a:r>
              <a:rPr lang="en-US" altLang="en-US"/>
              <a:t>To create interactive dashboards that track key metrics such as revenue, expenses, and profit margins.</a:t>
            </a:r>
            <a:endParaRPr lang="en-US" altLang="en-US"/>
          </a:p>
          <a:p>
            <a:pPr algn="just" fontAlgn="auto" latinLnBrk="0">
              <a:lnSpc>
                <a:spcPct val="90000"/>
              </a:lnSpc>
              <a:spcBef>
                <a:spcPts val="700"/>
              </a:spcBef>
              <a:buFont typeface="Wingdings" panose="05000000000000000000" charset="0"/>
              <a:buChar char="Ø"/>
            </a:pPr>
            <a:r>
              <a:rPr lang="en-US" altLang="en-US"/>
              <a:t>To identify financial trends, compare results with targets, and highlight areas for improvement.</a:t>
            </a:r>
            <a:endParaRPr lang="en-US" altLang="en-US"/>
          </a:p>
          <a:p>
            <a:pPr algn="just" fontAlgn="auto" latinLnBrk="0">
              <a:lnSpc>
                <a:spcPct val="90000"/>
              </a:lnSpc>
              <a:spcBef>
                <a:spcPts val="700"/>
              </a:spcBef>
              <a:buFont typeface="Wingdings" panose="05000000000000000000" charset="0"/>
              <a:buChar char="Ø"/>
            </a:pPr>
            <a:r>
              <a:rPr lang="en-US" altLang="en-US"/>
              <a:t>To transform raw financial data into meaningful insights that support data-driven decision-making.</a:t>
            </a:r>
            <a:endParaRPr lang="en-US" altLang="en-US"/>
          </a:p>
          <a:p>
            <a:pPr algn="just" fontAlgn="auto" latinLnBrk="0">
              <a:lnSpc>
                <a:spcPct val="90000"/>
              </a:lnSpc>
              <a:spcBef>
                <a:spcPts val="700"/>
              </a:spcBef>
              <a:buFont typeface="Wingdings" panose="05000000000000000000" charset="0"/>
              <a:buChar char="Ø"/>
            </a:pPr>
            <a:r>
              <a:rPr lang="en-US" altLang="en-US"/>
              <a:t>To provide a clear and comprehensive view of the organization’s financial health, helping management in strategic planning and cost optimization.</a:t>
            </a:r>
            <a:endParaRPr lang="en-US" altLang="en-US"/>
          </a:p>
        </p:txBody>
      </p:sp>
    </p:spTree>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and Technologies Used</a:t>
            </a:r>
          </a:p>
        </p:txBody>
      </p:sp>
      <p:sp>
        <p:nvSpPr>
          <p:cNvPr id="3" name="Content Placeholder 2"/>
          <p:cNvSpPr>
            <a:spLocks noGrp="1"/>
          </p:cNvSpPr>
          <p:nvPr>
            <p:ph type="body" idx="1"/>
          </p:nvPr>
        </p:nvSpPr>
        <p:spPr/>
        <p:txBody>
          <a:bodyPr/>
          <a:lstStyle/>
          <a:p>
            <a:pPr algn="l">
              <a:buFont typeface="Wingdings" panose="05000000000000000000" charset="0"/>
              <a:buChar char="Ø"/>
            </a:pPr>
            <a:r>
              <a:t> Microsoft Power BI</a:t>
            </a:r>
          </a:p>
          <a:p>
            <a:pPr algn="l">
              <a:buFont typeface="Wingdings" panose="05000000000000000000" charset="0"/>
              <a:buChar char="Ø"/>
            </a:pPr>
            <a:r>
              <a:t> Data Cleaning and Transformation</a:t>
            </a:r>
          </a:p>
          <a:p>
            <a:pPr algn="l">
              <a:buFont typeface="Wingdings" panose="05000000000000000000" charset="0"/>
              <a:buChar char="Ø"/>
            </a:pPr>
            <a:r>
              <a:t>DAX Calculations</a:t>
            </a:r>
          </a:p>
          <a:p>
            <a:pPr algn="l">
              <a:buFont typeface="Wingdings" panose="05000000000000000000" charset="0"/>
              <a:buChar char="Ø"/>
            </a:pPr>
            <a:r>
              <a:t>Excel Dataset</a:t>
            </a:r>
          </a:p>
          <a:p>
            <a:pPr algn="l">
              <a:buFont typeface="Wingdings" panose="05000000000000000000" charset="0"/>
              <a:buChar char="Ø"/>
            </a:pPr>
            <a:r>
              <a:t>Data Visualization and Business Analytics Techniques</a:t>
            </a:r>
          </a:p>
        </p:txBody>
      </p:sp>
    </p:spTree>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72720"/>
            <a:ext cx="7886700" cy="969010"/>
          </a:xfrm>
        </p:spPr>
        <p:txBody>
          <a:bodyPr>
            <a:normAutofit/>
          </a:bodyPr>
          <a:lstStyle/>
          <a:p>
            <a:r>
              <a:rPr sz="3110"/>
              <a:t>Insights from</a:t>
            </a:r>
            <a:r>
              <a:rPr lang="en-US" sz="3110"/>
              <a:t> Income statement focus</a:t>
            </a:r>
            <a:endParaRPr lang="en-US" sz="3110"/>
          </a:p>
        </p:txBody>
      </p:sp>
      <p:sp>
        <p:nvSpPr>
          <p:cNvPr id="3" name="Content Placeholder 2"/>
          <p:cNvSpPr>
            <a:spLocks noGrp="1"/>
          </p:cNvSpPr>
          <p:nvPr>
            <p:ph type="body" idx="1"/>
          </p:nvPr>
        </p:nvSpPr>
        <p:spPr>
          <a:xfrm>
            <a:off x="628650" y="1155065"/>
            <a:ext cx="7886700" cy="5022215"/>
          </a:xfrm>
        </p:spPr>
        <p:txBody>
          <a:bodyPr>
            <a:normAutofit fontScale="90000"/>
          </a:bodyPr>
          <a:lstStyle/>
          <a:p>
            <a:pPr algn="just">
              <a:buFont typeface="Wingdings" panose="05000000000000000000" charset="0"/>
              <a:buChar char="Ø"/>
            </a:pPr>
            <a:r>
              <a:rPr lang="en-US" altLang="en-US"/>
              <a:t>The total net income across all companies is 5T, while the cost of revenue stands at 42T, showing high expenditure levels.</a:t>
            </a:r>
            <a:endParaRPr lang="en-US" altLang="en-US"/>
          </a:p>
          <a:p>
            <a:pPr algn="just">
              <a:buFont typeface="Wingdings" panose="05000000000000000000" charset="0"/>
              <a:buChar char="Ø"/>
            </a:pPr>
            <a:r>
              <a:rPr lang="en-US" altLang="en-US"/>
              <a:t>Apple (AAPL) leads in both net income and operating income, reflecting strong operational efficiency.</a:t>
            </a:r>
            <a:endParaRPr lang="en-US" altLang="en-US"/>
          </a:p>
          <a:p>
            <a:pPr algn="just">
              <a:buFont typeface="Wingdings" panose="05000000000000000000" charset="0"/>
              <a:buChar char="Ø"/>
            </a:pPr>
            <a:r>
              <a:rPr lang="en-US" altLang="en-US"/>
              <a:t>Walmart (WMT) tops the list in total revenue, followed by BP and Exxon (XOM).</a:t>
            </a:r>
            <a:endParaRPr lang="en-US" altLang="en-US"/>
          </a:p>
          <a:p>
            <a:pPr algn="just">
              <a:buFont typeface="Wingdings" panose="05000000000000000000" charset="0"/>
              <a:buChar char="Ø"/>
            </a:pPr>
            <a:r>
              <a:rPr lang="en-US" altLang="en-US"/>
              <a:t>Gross profit peaked around 2017–2018 and slightly declined afterward, indicating potential cost pressures.</a:t>
            </a:r>
            <a:endParaRPr lang="en-US" altLang="en-US"/>
          </a:p>
          <a:p>
            <a:pPr algn="just">
              <a:buFont typeface="Wingdings" panose="05000000000000000000" charset="0"/>
              <a:buChar char="Ø"/>
            </a:pPr>
            <a:r>
              <a:rPr lang="en-US" altLang="en-US"/>
              <a:t>Overall financial trends after 2016 show stable revenue and income performance across major companies.</a:t>
            </a:r>
            <a:endParaRPr lang="en-US" altLang="en-US"/>
          </a:p>
        </p:txBody>
      </p:sp>
    </p:spTree>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 </a:t>
            </a:r>
            <a:endParaRPr dirty="0"/>
          </a:p>
        </p:txBody>
      </p:sp>
      <p:sp>
        <p:nvSpPr>
          <p:cNvPr id="3" name="Text Box 2"/>
          <p:cNvSpPr txBox="1"/>
          <p:nvPr/>
        </p:nvSpPr>
        <p:spPr>
          <a:xfrm>
            <a:off x="5232400" y="2343785"/>
            <a:ext cx="3048000" cy="643890"/>
          </a:xfrm>
          <a:prstGeom prst="rect">
            <a:avLst/>
          </a:prstGeom>
          <a:noFill/>
        </p:spPr>
        <p:txBody>
          <a:bodyPr wrap="square" rtlCol="0">
            <a:noAutofit/>
          </a:bodyPr>
          <a:p>
            <a:endParaRPr lang="en-US"/>
          </a:p>
        </p:txBody>
      </p:sp>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Insights from </a:t>
            </a:r>
            <a:r>
              <a:rPr lang="en-US"/>
              <a:t>Comparative &amp; KPI Analysis</a:t>
            </a:r>
            <a:endParaRPr lang="en-US"/>
          </a:p>
        </p:txBody>
      </p:sp>
      <p:sp>
        <p:nvSpPr>
          <p:cNvPr id="3" name="Content Placeholder 2"/>
          <p:cNvSpPr>
            <a:spLocks noGrp="1"/>
          </p:cNvSpPr>
          <p:nvPr>
            <p:ph type="body" idx="1"/>
          </p:nvPr>
        </p:nvSpPr>
        <p:spPr/>
        <p:txBody>
          <a:bodyPr>
            <a:normAutofit fontScale="90000"/>
          </a:bodyPr>
          <a:lstStyle/>
          <a:p>
            <a:pPr algn="just">
              <a:buFont typeface="Wingdings" panose="05000000000000000000" charset="0"/>
              <a:buChar char="Ø"/>
            </a:pPr>
            <a:r>
              <a:rPr lang="en-US" altLang="en-US"/>
              <a:t>Total revenue and total assets show consistent growth from 2015 to 2019, peaking before a drop in 2020.</a:t>
            </a:r>
            <a:endParaRPr lang="en-US" altLang="en-US"/>
          </a:p>
          <a:p>
            <a:pPr algn="just">
              <a:buFont typeface="Wingdings" panose="05000000000000000000" charset="0"/>
              <a:buChar char="Ø"/>
            </a:pPr>
            <a:r>
              <a:rPr lang="en-US" altLang="en-US"/>
              <a:t>Net income follows a similar trend, with strong performance between 2017–2019, led by top-performing stocks like AAPL.</a:t>
            </a:r>
            <a:endParaRPr lang="en-US" altLang="en-US"/>
          </a:p>
          <a:p>
            <a:pPr algn="just">
              <a:buFont typeface="Wingdings" panose="05000000000000000000" charset="0"/>
              <a:buChar char="Ø"/>
            </a:pPr>
            <a:r>
              <a:rPr lang="en-US" altLang="en-US"/>
              <a:t>The count of stocks increased steadily until 2019, reflecting business expansion and market activity.</a:t>
            </a:r>
            <a:endParaRPr lang="en-US" altLang="en-US"/>
          </a:p>
          <a:p>
            <a:pPr algn="just">
              <a:buFont typeface="Wingdings" panose="05000000000000000000" charset="0"/>
              <a:buChar char="Ø"/>
            </a:pPr>
            <a:r>
              <a:rPr lang="en-US" altLang="en-US"/>
              <a:t>Revenue growth correlates positively with increases in total assets, indicating efficient asset utilization.</a:t>
            </a:r>
            <a:endParaRPr lang="en-US" altLang="en-US"/>
          </a:p>
          <a:p>
            <a:pPr algn="just">
              <a:buFont typeface="Wingdings" panose="05000000000000000000" charset="0"/>
              <a:buChar char="Ø"/>
            </a:pPr>
            <a:r>
              <a:rPr lang="en-US" altLang="en-US"/>
              <a:t>A slight decline in 2020 suggests possible market contraction or reduced profitability during that period</a:t>
            </a:r>
            <a:endParaRPr lang="en-US" altLang="en-US"/>
          </a:p>
        </p:txBody>
      </p:sp>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Dashboards</a:t>
            </a:r>
          </a:p>
        </p:txBody>
      </p:sp>
      <p:sp>
        <p:nvSpPr>
          <p:cNvPr id="3" name="Content Placeholder 2"/>
          <p:cNvSpPr>
            <a:spLocks noGrp="1"/>
          </p:cNvSpPr>
          <p:nvPr>
            <p:ph type="body" idx="1"/>
          </p:nvPr>
        </p:nvSpPr>
        <p:spPr>
          <a:xfrm>
            <a:off x="291465" y="1825625"/>
            <a:ext cx="8677275" cy="4362450"/>
          </a:xfrm>
        </p:spPr>
        <p:txBody>
          <a:bodyPr>
            <a:normAutofit fontScale="90000"/>
          </a:bodyPr>
          <a:lstStyle/>
          <a:p>
            <a:pPr algn="just">
              <a:buFont typeface="Wingdings" panose="05000000000000000000" charset="0"/>
              <a:buChar char="Ø"/>
            </a:pPr>
            <a:r>
              <a:rPr lang="en-US" altLang="en-US"/>
              <a:t>The Income Statement Focus dashboard highlights net income, revenue, cost of revenue, gross profit, and operating income trends across major stocks from 2016 to 2020.</a:t>
            </a:r>
            <a:endParaRPr lang="en-US" altLang="en-US"/>
          </a:p>
          <a:p>
            <a:pPr algn="just">
              <a:buFont typeface="Wingdings" panose="05000000000000000000" charset="0"/>
              <a:buChar char="Ø"/>
            </a:pPr>
            <a:r>
              <a:rPr lang="en-US" altLang="en-US"/>
              <a:t>It uses line and bar charts to compare financial performance by stock and year, emphasizing growth and profitability metrics.</a:t>
            </a:r>
            <a:endParaRPr lang="en-US" altLang="en-US"/>
          </a:p>
          <a:p>
            <a:pPr algn="just">
              <a:buFont typeface="Wingdings" panose="05000000000000000000" charset="0"/>
              <a:buChar char="Ø"/>
            </a:pPr>
            <a:r>
              <a:rPr lang="en-US" altLang="en-US"/>
              <a:t>The Comparative &amp; KPI Analysis dashboard expands the view with total assets, stock count, and multi-metric comparisons from 2014 to 2020.</a:t>
            </a:r>
            <a:endParaRPr lang="en-US" altLang="en-US"/>
          </a:p>
          <a:p>
            <a:pPr algn="just">
              <a:buFont typeface="Wingdings" panose="05000000000000000000" charset="0"/>
              <a:buChar char="Ø"/>
            </a:pPr>
            <a:r>
              <a:rPr lang="en-US" altLang="en-US"/>
              <a:t>It enables deeper insights into financial health and stock dynamics using layered visualizations and KPI tracking over time.</a:t>
            </a:r>
            <a:endParaRPr lang="en-US" altLang="en-US"/>
          </a:p>
          <a:p>
            <a:pPr algn="just">
              <a:buFont typeface="Wingdings" panose="05000000000000000000" charset="0"/>
              <a:buChar char="Ø"/>
            </a:pPr>
            <a:endParaRPr lang="en-US" altLang="en-US"/>
          </a:p>
        </p:txBody>
      </p:sp>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6435" y="230506"/>
            <a:ext cx="7886700" cy="1325563"/>
          </a:xfrm>
        </p:spPr>
        <p:txBody>
          <a:bodyPr/>
          <a:lstStyle/>
          <a:p>
            <a:r>
              <a:t>Key Business Insights</a:t>
            </a:r>
          </a:p>
        </p:txBody>
      </p:sp>
      <p:sp>
        <p:nvSpPr>
          <p:cNvPr id="3" name="Content Placeholder 2"/>
          <p:cNvSpPr>
            <a:spLocks noGrp="1"/>
          </p:cNvSpPr>
          <p:nvPr>
            <p:ph type="body" idx="1"/>
          </p:nvPr>
        </p:nvSpPr>
        <p:spPr>
          <a:xfrm>
            <a:off x="184785" y="1517015"/>
            <a:ext cx="8783320" cy="4660265"/>
          </a:xfrm>
        </p:spPr>
        <p:txBody>
          <a:bodyPr>
            <a:normAutofit fontScale="25000"/>
          </a:bodyPr>
          <a:lstStyle/>
          <a:p>
            <a:pPr algn="just">
              <a:buFont typeface="Wingdings" panose="05000000000000000000" charset="0"/>
              <a:buChar char="ü"/>
            </a:pPr>
            <a:r>
              <a:rPr lang="en-US" altLang="en-US" sz="8000"/>
              <a:t>Revenue and Profit Leadership: Companies like WMT, AAPL, and AMZN consistently lead in total revenue, net income, and retained earnings, signaling strong market performance and operational efficiency.</a:t>
            </a:r>
            <a:endParaRPr lang="en-US" altLang="en-US" sz="8000"/>
          </a:p>
          <a:p>
            <a:pPr algn="just">
              <a:buFont typeface="Wingdings" panose="05000000000000000000" charset="0"/>
              <a:buChar char="ü"/>
            </a:pPr>
            <a:r>
              <a:rPr lang="en-US" altLang="en-US" sz="8000"/>
              <a:t>Asset and Liability Management: WMT and MSFT show high total assets and liabilities, indicating large-scale operations with significant capital structure, while maintaining healthy equity positions.</a:t>
            </a:r>
            <a:endParaRPr lang="en-US" altLang="en-US" sz="8000"/>
          </a:p>
          <a:p>
            <a:pPr algn="just">
              <a:buFont typeface="Wingdings" panose="05000000000000000000" charset="0"/>
              <a:buChar char="ü"/>
            </a:pPr>
            <a:r>
              <a:rPr lang="en-US" altLang="en-US" sz="8000"/>
              <a:t> Cash Flow Dynamics: Operating activities are the primary source of cash for most firms, but capital expenditures remain substantial, especially for asset-heavy companies, impacting overall cash change.</a:t>
            </a:r>
            <a:endParaRPr lang="en-US" altLang="en-US" sz="8000"/>
          </a:p>
          <a:p>
            <a:pPr algn="just">
              <a:buFont typeface="Wingdings" panose="05000000000000000000" charset="0"/>
              <a:buChar char="ü"/>
            </a:pPr>
            <a:r>
              <a:rPr lang="en-US" altLang="en-US" sz="8000"/>
              <a:t> Trend Consistency and Growth: From 2014 to 2020, financial metrics like total revenue, net income, and total assets show upward trends across leading stocks, reflecting sustained growth and strategic expansion.</a:t>
            </a:r>
            <a:endParaRPr lang="en-US" altLang="en-US" sz="8000"/>
          </a:p>
          <a:p>
            <a:pPr algn="just">
              <a:buFont typeface="Wingdings" panose="05000000000000000000" charset="0"/>
              <a:buChar char="ü"/>
            </a:pPr>
            <a:r>
              <a:rPr lang="en-US" altLang="en-US" sz="8000"/>
              <a:t> Risk and Volatility Awareness: Some companies exhibit fluctuations in liabilities and cash flows, highlighting the importance of monitoring financial risks and maintaining liquidity buffers for stability.</a:t>
            </a:r>
            <a:endParaRPr lang="en-US" altLang="en-US" sz="8000"/>
          </a:p>
        </p:txBody>
      </p:sp>
    </p:spTree>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type="body" idx="1"/>
          </p:nvPr>
        </p:nvSpPr>
        <p:spPr/>
        <p:txBody>
          <a:bodyPr/>
          <a:lstStyle/>
          <a:p>
            <a:pPr algn="just">
              <a:buFont typeface="Wingdings" panose="05000000000000000000" charset="0"/>
              <a:buChar char="Ø"/>
            </a:pPr>
            <a:r>
              <a:rPr lang="en-US" altLang="en-US" sz="2400"/>
              <a:t>The Financial Data Analysis using Power BI project transformed complex financial and customer data into clear, interactive visual insights. It enabled effective monitoring of key metrics such as transaction amounts, account balances, and customer trends. Through Power BI dashboards, the analysis improved financial transparency, identified spending patterns, and supported data-driven decision-making. Overall, it showcased how Power BI enhances financial performance tracking and strategic business planning efficiently.</a:t>
            </a:r>
            <a:endParaRPr lang="en-US" altLang="en-US" sz="2400"/>
          </a:p>
        </p:txBody>
      </p:sp>
    </p:spTree>
  </p:cSld>
  <p:clrMapOvr>
    <a:masterClrMapping/>
  </p:clrMapOvr>
  <p:transition spd="slow">
    <p:fade thruBlk="1"/>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Web_Scraping_ICC_Rankings_PrasannaKumar_Presentation</Template>
  <TotalTime>0</TotalTime>
  <Words>4673</Words>
  <Application>WPS Presentation</Application>
  <PresentationFormat>On-screen Show (4:3)</PresentationFormat>
  <Paragraphs>60</Paragraphs>
  <Slides>11</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11</vt:i4>
      </vt:variant>
    </vt:vector>
  </HeadingPairs>
  <TitlesOfParts>
    <vt:vector size="26" baseType="lpstr">
      <vt:lpstr>Arial</vt:lpstr>
      <vt:lpstr>SimSun</vt:lpstr>
      <vt:lpstr>Wingdings</vt:lpstr>
      <vt:lpstr>Arial</vt:lpstr>
      <vt:lpstr>Calibri</vt:lpstr>
      <vt:lpstr>Wingdings</vt:lpstr>
      <vt:lpstr>Microsoft YaHei</vt:lpstr>
      <vt:lpstr>Arial Unicode MS</vt:lpstr>
      <vt:lpstr>Calibri</vt:lpstr>
      <vt:lpstr>Mali SemiBold</vt:lpstr>
      <vt:lpstr>Mali</vt:lpstr>
      <vt:lpstr>2</vt:lpstr>
      <vt:lpstr>Wingdings 2</vt:lpstr>
      <vt:lpstr>Office Theme</vt:lpstr>
      <vt:lpstr>1_Office Theme</vt:lpstr>
      <vt:lpstr>PowerPoint 演示文稿</vt:lpstr>
      <vt:lpstr>Introduction</vt:lpstr>
      <vt:lpstr>Objectives</vt:lpstr>
      <vt:lpstr>Tools and Technologies Used</vt:lpstr>
      <vt:lpstr>Income Statement Focus</vt:lpstr>
      <vt:lpstr>Insights from Income statement focus</vt:lpstr>
      <vt:lpstr> </vt:lpstr>
      <vt:lpstr>Insights from Comparative &amp; KPI Analysis</vt:lpstr>
      <vt:lpstr>Summary of Dashboards</vt:lpstr>
      <vt:lpstr>Key Business Insights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Pranav Areti</cp:lastModifiedBy>
  <cp:revision>5</cp:revision>
  <dcterms:created xsi:type="dcterms:W3CDTF">2013-01-27T09:14:00Z</dcterms:created>
  <dcterms:modified xsi:type="dcterms:W3CDTF">2025-11-15T14:12:33Z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AA93A158BE134C78922E6480AFEA5AB3_12</vt:lpwstr>
  </property>
  <property fmtid="{D5CDD505-2E9C-101B-9397-08002B2CF9AE}" pid="3" name="KSOProductBuildVer">
    <vt:lpwstr>1033-12.2.0.23155</vt:lpwstr>
  </property>
</Properties>
</file>